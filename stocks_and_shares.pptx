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are breaking down stocks and shares in crystal-clear English. No corporate buzzwords, no gatekeeping. Just practical financial mechanics.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pizza analogy. Company = whole pizza, 1 share = 1 slice. Buying a share legally confers ownership. When the business expands, your slice appreciates in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financial contrast. Show that consumers trade money for depreciating items, while shareholders trade money for income-producing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these terms are often mistakenly interchanged in casual conversation. Knowing the difference establishes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both wealth engines: Capital appreciation (selling higher) and Dividends (quarterly profit payouts). Highlight how DRIP automates compounding.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a clear distinction between gambling and true asset ownership. Show that systematic investing requires emotional discipline, not technical wizardry.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time value of money. Compounding is exponential: the curve accelerates dramatically in decades 2 and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an ETF trades exactly like a stock on the open market, giving you institutional diversification with retail liquidity.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Reiterate that waiting for the 'perfect dip' usually costs more money than just setting up an automated monthly buy.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clarity. Reiterate that financial independence is not a sprint, but an endurance marathon. Invite the room to ask questions or discuss specific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914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MODERN WEALTH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F8FAFC"/>
                </a:solidFill>
                <a:latin typeface="Segoe UI"/>
              </a:defRPr>
            </a:pPr>
            <a:r>
              <a:t>Stocks &amp; Shares:</a:t>
            </a:r>
          </a:p>
          <a:p>
            <a:pPr>
              <a:defRPr sz="4800" b="1">
                <a:solidFill>
                  <a:srgbClr val="38BDF8"/>
                </a:solidFill>
                <a:latin typeface="Segoe UI"/>
              </a:defRPr>
            </a:pPr>
            <a:r>
              <a:t>Beyond The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How to transition from being an everyday consumer into a legal co-owner of the world's most profitable businesses.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STRUCTURED GUIDE  •  PLAIN ENGLISH  •  ACTIONABLE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CORE CONCEPT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What is a Stock? Think of a Giant Pizza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E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4572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1. The Whole Pizza = The Company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Apple, Tesla, or Nike as an entire business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A giant corporation is valued at billions or trillions of dollars.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No single everyday person has $3 Trillion to purchase the entire enterprise.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So the entire business is sliced into millions of tiny, equal portions called SHARES.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Each individual share represents an exact fraction of that total company.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95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572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2. One Slice = One Share You Own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Your certified legal co-ownership rights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When you buy even 1 single share, you legally co-own that business.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When the company sells 100M devices worldwide, the entire pizza grows.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Because the whole pizza expands in value, your individual slice is worth more.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You do not clock in or attend meetings: thousands of employees work for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Bottom Line: You do not need to build a tech empire from scratch. You can just buy a slice of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MINDSET SHIFT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Consumer vs. Owner: Flipping The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5A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4572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7171"/>
                </a:solidFill>
                <a:latin typeface="Segoe UI"/>
              </a:defRPr>
            </a:pPr>
            <a:r>
              <a:t>The Consumer Cycle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Spending on depreciating assets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Spends $1,200 annually on new smartphone upgrades and retail gear.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Pays ongoing monthly subscription fees across multiple platforms.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Cash flows strictly outward to strengthen corporate balance sheets.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Outcome: 0% financial equity and declining physical resale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95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572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The Shareholder Advantage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Acquiring equity in operating cash flows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Allocates capital into the very companies whose services they use daily.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When millions of customers purchase goods, corporate earnings rise.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Share valuations appreciate and quarterly dividends are distributed.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Outcome: Building compounding equity while management works for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Key Principle: You do not need to create a global conglomerate to profit from corporate success.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TERMINOLOGY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Three Core Terms You Need To Master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918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27432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A STOCK</a:t>
            </a:r>
          </a:p>
          <a:p>
            <a:pPr algn="ctr">
              <a:spcAft>
                <a:spcPts val="12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The Asset Category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Definition: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General ownership certificates in commercial companies.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 Practice: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"I allocate 20% of monthly savings to the stock market."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</a:p>
          <a:p>
            <a:pPr>
              <a:defRPr sz="1200" b="1">
                <a:solidFill>
                  <a:srgbClr val="FBBF24"/>
                </a:solidFill>
                <a:latin typeface="Segoe UI"/>
              </a:defRPr>
            </a:pPr>
            <a:r>
              <a:t>Category Level: Broad asset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2918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27432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A SHARE</a:t>
            </a:r>
          </a:p>
          <a:p>
            <a:pPr algn="ctr">
              <a:spcAft>
                <a:spcPts val="12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The Quantifiable Unit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Definition: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The exact countable slice of a single distinct enterprise.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 Practice: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"I bought 4 shares of Microsoft at $410 per unit."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</a:p>
          <a:p>
            <a:pPr>
              <a:defRPr sz="1200" b="1">
                <a:solidFill>
                  <a:srgbClr val="FBBF24"/>
                </a:solidFill>
                <a:latin typeface="Segoe UI"/>
              </a:defRPr>
            </a:pPr>
            <a:r>
              <a:t>Category Level: Specific individual unit.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2918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920240"/>
            <a:ext cx="27432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A855F7"/>
                </a:solidFill>
                <a:latin typeface="Segoe UI"/>
              </a:defRPr>
            </a:pPr>
            <a:r>
              <a:t>THE MARKET</a:t>
            </a:r>
          </a:p>
          <a:p>
            <a:pPr algn="ctr">
              <a:spcAft>
                <a:spcPts val="12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The Exchange Platform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Definition: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The clearinghouse (e.g., NYSE, NASDAQ) matching buyers &amp; sellers.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 Practice: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"Trading opens at 9:30 AM EST on international markets."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</a:p>
          <a:p>
            <a:pPr>
              <a:defRPr sz="1200" b="1">
                <a:solidFill>
                  <a:srgbClr val="FBBF24"/>
                </a:solidFill>
                <a:latin typeface="Segoe UI"/>
              </a:defRPr>
            </a:pPr>
            <a:r>
              <a:t>Category Level: Transaction 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Rule: You buy shares of an individual stock through the stock exchange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CASH FLOW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Two Ways You Actually Make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E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4572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Segoe UI"/>
              </a:defRPr>
            </a:pPr>
            <a:r>
              <a:t>1. Capital Gains (Buy Low, Sell High)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Value appreciation over time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You purchase 1 share of an expanding company at $50.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Company doubles revenue and releases innovative products.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Two years later, open-market demand pushes price to $135.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You sell the share and pocket +$85 (+170%) pure net profit!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95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572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0B981"/>
                </a:solidFill>
                <a:latin typeface="Segoe UI"/>
              </a:defRPr>
            </a:pPr>
            <a:r>
              <a:t>2. Dividends (Direct Cash Payouts)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Passive cash flow distributed quarterly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Profitable enterprises (Apple, Coca-Cola) share cash profits with owners.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Direct cash is deposited to your brokerage balance every 3 months.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Critical: You never have to sell your shares to receive this income.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DRIP Feature: Automatically reinvests dividends to purchase more shares!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Summary: Capital gains grow your net worth; dividends provide recurring passive income.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RISK ASSESSMENT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Speculation vs. Long-Term Investing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6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4572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7171"/>
                </a:solidFill>
                <a:latin typeface="Segoe UI"/>
              </a:defRPr>
            </a:pPr>
            <a:r>
              <a:t>Short-Term Speculation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Constantly monitoring 1-minute candlestick movements.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Chasing social media hype and unverified forum rumors.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High emotional volatility, elevated stress, and panic exits.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Statistical Fact: Over 90% of active retail day-traders lose capital.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Resembles a zero-sum wager rather than productive asset building.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95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572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Systematic Investing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Purchasing verified, profitable enterprises and broad market indexes.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Holding across multi-year cycles while the economy expands.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Low maintenance: Reviewing account allocations once per month.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Historical Fact: S&amp;P 500 has never lost money over any 20-year rolling span.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Genuine wealth accumulated systematically without daily screen-watching.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Warning: If someone guarantees overnight riches, their product is you.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MATHEMATICAL ADVANTAGE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Compound Interest: Time Outweighs Capital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84048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E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3474720" cy="3291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5600" b="1">
                <a:solidFill>
                  <a:srgbClr val="38BDF8"/>
                </a:solidFill>
                <a:latin typeface="Segoe UI"/>
              </a:defRPr>
            </a:pPr>
            <a:r>
              <a:t>~10%</a:t>
            </a:r>
          </a:p>
          <a:p>
            <a:pPr algn="ctr">
              <a:defRPr sz="1600" b="1">
                <a:solidFill>
                  <a:srgbClr val="F8FAFC"/>
                </a:solidFill>
                <a:latin typeface="Segoe UI"/>
              </a:defRPr>
            </a:pPr>
            <a:r>
              <a:t>Historical Annual Return</a:t>
            </a:r>
          </a:p>
          <a:p>
            <a:pPr algn="ctr">
              <a:spcBef>
                <a:spcPts val="12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50-year benchmark track record of the US S&amp;P 500 total return index.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645920"/>
            <a:ext cx="630936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874519"/>
            <a:ext cx="57607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The $100 / Month Compounding Trajectory</a:t>
            </a:r>
          </a:p>
          <a:p>
            <a:pPr>
              <a:spcBef>
                <a:spcPts val="1000"/>
              </a:spcBef>
              <a:defRPr sz="1300" b="1">
                <a:solidFill>
                  <a:srgbClr val="64748B"/>
                </a:solidFill>
                <a:latin typeface="Segoe UI"/>
              </a:defRPr>
            </a:pPr>
            <a:r>
              <a:t>Cash in Bank (0.5% return):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$36,000 deposits yield ~$38,800 over 30 years.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t>Invested in S&amp;P 500 (~10%):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$36,000 deposits compound into $226,000+.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  <a:latin typeface="Segoe UI"/>
              </a:defRPr>
            </a:pPr>
            <a:r>
              <a:t>Net Capital Multiplier: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Over $190,000 created strictly from capital compound physics.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Takeaway: Starting 5 years earlier yields far greater wealth than attempting to contribute twice as much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RISK MITIGATION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Portfolio Shield: Single Stocks vs. Index ETFs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4572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Single Company Stocks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Concentrated Corporate Exposure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Unmitigated risk: Management mistakes can trigger catastrophic sell-offs.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Requires ongoing scrutiny of quarterly SEC regulatory and earnings filings.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Viable for high-conviction thematic satellite holdings.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Analogy: Staking an entire tournament outcome on one individual player.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95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572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Exchange Traded Funds (ETFs)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Broad Market Exposure (e.g., S&amp;P 500 Index)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Complete diversification: Owning 500 top-tier enterprises simultaneously.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Underperforming companies are automatically purged and replaced.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Near-zero ongoing management overhead required.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Recommended by Warren Buffett as the optimal route for 99% of investors.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Strategy: Establish a broad index core before deploying capital into individual corporate names.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IMPLEMENTATION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Execution: The 3-Step Investment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918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27432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PHASE 01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Select a Brokerage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Open an account with a regulated, zero-commission financial institution.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</a:p>
          <a:p>
            <a:pPr>
              <a:defRPr sz="1200" b="1">
                <a:solidFill>
                  <a:srgbClr val="FBBF24"/>
                </a:solidFill>
                <a:latin typeface="Segoe UI"/>
              </a:defRPr>
            </a:pPr>
            <a:r>
              <a:t>Platform criteria: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Zero account maintenance charges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Clean mobile interface &amp; robust security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Support for fractional share ordering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2918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27432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PHASE 02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Fractional Shares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Capital barriers no longer exist in modern markets.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</a:p>
          <a:p>
            <a:pPr>
              <a:defRPr sz="1200" b="1">
                <a:solidFill>
                  <a:srgbClr val="FBBF24"/>
                </a:solidFill>
                <a:latin typeface="Segoe UI"/>
              </a:defRPr>
            </a:pPr>
            <a:r>
              <a:t>Fractional mechanics: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If one share trades at $400, you can allocate as little as $10.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Allows immediate portfolio construction on any budget.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291840" cy="4023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920240"/>
            <a:ext cx="27432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Segoe UI"/>
              </a:defRPr>
            </a:pPr>
            <a:r>
              <a:t>PHASE 03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Automate (DCA)</a:t>
            </a:r>
          </a:p>
          <a:p>
            <a:pPr>
              <a:defRPr sz="1200" b="1">
                <a:solidFill>
                  <a:srgbClr val="FBBF24"/>
                </a:solidFill>
                <a:latin typeface="Segoe UI"/>
              </a:defRPr>
            </a:pPr>
            <a:r>
              <a:t>Dollar-Cost Averaging (DCA):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Schedule fixed monthly deposits coinciding with income dates.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Automatically acquires more units during market dips.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Removes emotional panic from the equation.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Milestone: Consistency in contribution volume consistently surpasses market-timing genius.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0" y="822960"/>
            <a:ext cx="3383280" cy="384048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0" y="822960"/>
            <a:ext cx="338328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STRATEGIC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Start Early. Stay Rational.</a:t>
            </a:r>
            <a:br/>
            <a:r>
              <a:t>Let Compounding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74720"/>
            <a:ext cx="3291840" cy="19202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01. Capital Reserve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Never invest capital allocated for near-term obligations, rent, or emergencies. Maintain liquidity.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474720"/>
            <a:ext cx="3291840" cy="19202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36576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02. Volatility Tolerance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Price pullbacks are natural market breathers. Refrain from liquidating during standard corrections.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474720"/>
            <a:ext cx="3291840" cy="19202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6576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855F7"/>
                </a:solidFill>
                <a:latin typeface="Segoe UI"/>
              </a:defRPr>
            </a:pPr>
            <a:r>
              <a:t>03. Relentless Horizon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Time in the market systematically outperforms market timing. Focus on business fundamentals.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Open Floor: Questions, Discussion &amp; Portfolio Exploration.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